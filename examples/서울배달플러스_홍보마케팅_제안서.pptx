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서울배달+</c:v>
                </c:pt>
              </c:strCache>
            </c:strRef>
          </c:tx>
          <c:spPr>
            <a:solidFill>
              <a:srgbClr val="002C5F"/>
            </a:solidFill>
          </c:spPr>
          <c:cat>
            <c:strRef>
              <c:f>Sheet1!$A$2:$A$5</c:f>
              <c:strCache>
                <c:ptCount val="4"/>
                <c:pt idx="0">
                  <c:v>인지도</c:v>
                </c:pt>
                <c:pt idx="1">
                  <c:v>앱 설치</c:v>
                </c:pt>
                <c:pt idx="2">
                  <c:v>이용 경험</c:v>
                </c:pt>
                <c:pt idx="3">
                  <c:v>정기 이용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15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002C5F"/>
              </a:solidFill>
            </c:spPr>
          </c:dPt>
          <c:dPt>
            <c:idx val="1"/>
            <c:spPr>
              <a:solidFill>
                <a:srgbClr val="00AAD2"/>
              </a:solidFill>
            </c:spPr>
          </c:dPt>
          <c:dPt>
            <c:idx val="2"/>
            <c:spPr>
              <a:solidFill>
                <a:srgbClr val="00A19C"/>
              </a:solidFill>
            </c:spPr>
          </c:dPt>
          <c:dPt>
            <c:idx val="3"/>
            <c:spPr>
              <a:solidFill>
                <a:srgbClr val="F5A623"/>
              </a:solidFill>
            </c:spPr>
          </c:dPt>
          <c:dPt>
            <c:idx val="4"/>
            <c:spPr>
              <a:solidFill>
                <a:srgbClr val="757575"/>
              </a:solidFill>
            </c:spPr>
          </c:dPt>
          <c:cat>
            <c:strRef>
              <c:f>Sheet1!$A$2:$A$6</c:f>
              <c:strCache>
                <c:ptCount val="5"/>
                <c:pt idx="0">
                  <c:v>콘텐츠 제작</c:v>
                </c:pt>
                <c:pt idx="1">
                  <c:v>매체 집행</c:v>
                </c:pt>
                <c:pt idx="2">
                  <c:v>이벤트·프로모션</c:v>
                </c:pt>
                <c:pt idx="3">
                  <c:v>전략·분석</c:v>
                </c:pt>
                <c:pt idx="4">
                  <c:v>운영 관리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  <c:txPr>
        <a:bodyPr/>
        <a:lstStyle/>
        <a:p>
          <a:pPr>
            <a:defRPr sz="1000">
              <a:latin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E42"/>
            </a:gs>
            <a:gs pos="100000">
              <a:srgbClr val="002C5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371600"/>
            <a:ext cx="38100" cy="3657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Pretendard Bold"/>
              </a:defRPr>
            </a:pPr>
            <a:r>
              <a:rPr spc="100"/>
              <a:t>서울시 공공배달 서비스</a:t>
            </a:r>
            <a:br/>
            <a:r>
              <a:rPr spc="100"/>
              <a:t>활성화 홍보마케팅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27432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배달의 공공성, 시민과 소상공인이 함께 만드는 서울배달+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57575"/>
                </a:solidFill>
                <a:latin typeface="Pretendard Medium"/>
              </a:defRPr>
            </a:pPr>
            <a:r>
              <a:t>2026  |  서울특별시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8C8C8"/>
                </a:solidFill>
                <a:latin typeface="Pretendard Light"/>
              </a:defRPr>
            </a:pPr>
            <a:r>
              <a:t>[수행사명]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0728655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018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1018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018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공공배달의 새로운 패러다임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10728655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47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047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47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Executive Summary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10728655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076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1076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76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시장 환경 분석 및 핵심 인사이트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14600"/>
            <a:ext cx="10728655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6106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106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106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핵심 컨셉 및 차별화 전략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10728655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135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1135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ACTION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135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상세 실행 계획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20440"/>
            <a:ext cx="10728655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164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164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6164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운영 및 관리 체계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23360"/>
            <a:ext cx="10728655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1193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1193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WHY 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1193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수행 역량 및 레퍼런스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26280"/>
            <a:ext cx="10728655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222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AD2"/>
                </a:solidFill>
                <a:latin typeface="Pretendard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6222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2C5F"/>
                </a:solidFill>
                <a:latin typeface="Pretendard"/>
              </a:defRPr>
            </a:pPr>
            <a:r>
              <a:t>INVESTMENT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6222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투자 비용 및 기대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대한민국 배달 시장, 공공의 역할이 필요한 시점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배달앱 수수료 15~25% → 소상공인 수익 구조 악화, 공공배달이 답이다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2C5F"/>
                </a:solidFill>
                <a:latin typeface="Pretendard Bold"/>
              </a:defRPr>
            </a:pPr>
            <a:r>
              <a:t>26.3조원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배달앱 시장 규모</a:t>
            </a:r>
            <a:br/>
            <a:r>
              <a:t>(2025년 기준)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973" y="19202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192024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973" y="20299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AD2"/>
                </a:solidFill>
                <a:latin typeface="Pretendard Bold"/>
              </a:defRPr>
            </a:pPr>
            <a:r>
              <a:t>15~25%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973" y="25786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민간 배달앱</a:t>
            </a:r>
            <a:br/>
            <a:r>
              <a:t>평균 수수료율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4427" y="19202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4427" y="192024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0299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19C"/>
                </a:solidFill>
                <a:latin typeface="Pretendard Bold"/>
              </a:defRPr>
            </a:pPr>
            <a:r>
              <a:t>2~5%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4427" y="25786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공공배달앱</a:t>
            </a:r>
            <a:br/>
            <a:r>
              <a:t>평균 수수료율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80881" y="19202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0881" y="192024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0881" y="20299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3312"/>
                </a:solidFill>
                <a:latin typeface="Pretendard Bold"/>
              </a:defRPr>
            </a:pPr>
            <a:r>
              <a:t>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0881" y="25786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소상공인</a:t>
            </a:r>
            <a:br/>
            <a:r>
              <a:t>수수료 부담 호소 비율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3454298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38328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공공배달의 가치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31920"/>
            <a:ext cx="31799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소상공인 수수료 절감으로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지역경제 선순환 구조 창출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8698" y="3383280"/>
            <a:ext cx="3454298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8698" y="338328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서울배달+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5858" y="3931920"/>
            <a:ext cx="31799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가맹점 확대 중이나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시민 인지도·이용률 Gap 존재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5876" y="3383280"/>
            <a:ext cx="3454298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5876" y="338328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핵심 과제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3036" y="3931920"/>
            <a:ext cx="31799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인지도 → 실이용 전환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브랜드 신뢰 구축이 관건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한국소비자원, 배달앱 수수료 실태조사(2025)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AAD2"/>
                </a:solidFill>
                <a:latin typeface="Pretendard SemiBold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Pretendard Bold"/>
              </a:defRPr>
            </a:pPr>
            <a:r>
              <a:t>배달은 서울답게,</a:t>
            </a:r>
            <a:br/>
            <a:r>
              <a:t>소비는 가치있게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8C8C8"/>
                </a:solidFill>
                <a:latin typeface="Pretendard Light"/>
              </a:defRPr>
            </a:pPr>
            <a:r>
              <a:t>서울배달+를 시민이 가장 먼저 떠올리는</a:t>
            </a:r>
            <a:br/>
            <a:r>
              <a:t>공공배달 대표 브랜드로 성장시키겠습니다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3484778" cy="1188720"/>
          </a:xfrm>
          <a:prstGeom prst="roundRect">
            <a:avLst>
              <a:gd name="adj" fmla="val 6000"/>
            </a:avLst>
          </a:prstGeom>
          <a:solidFill>
            <a:srgbClr val="00AAD2"/>
          </a:solidFill>
          <a:ln>
            <a:noFill/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348477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데이터 기반 마케팅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348477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데이터 기반 타겟 마케팅으로 이용 전환율 극대화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3458" y="5029200"/>
            <a:ext cx="3484778" cy="1188720"/>
          </a:xfrm>
          <a:prstGeom prst="roundRect">
            <a:avLst>
              <a:gd name="adj" fmla="val 6000"/>
            </a:avLst>
          </a:prstGeom>
          <a:solidFill>
            <a:srgbClr val="00A19C"/>
          </a:solidFill>
          <a:ln>
            <a:noFill/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53458" y="5074920"/>
            <a:ext cx="348477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밀착형 생태계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5394960"/>
            <a:ext cx="348477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소상공인·시민 밀착형 공공배달 생태계 확장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5396" y="5029200"/>
            <a:ext cx="3484778" cy="11887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975396" y="5074920"/>
            <a:ext cx="348477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통합 브랜드 경험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5396" y="5394960"/>
            <a:ext cx="348477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콘텐츠 중심 온·오프라인 통합 브랜드 경험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의사결정권자를 위한 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데이터 기반 홍보전략으로 서울배달+ 이용률 300% 성장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데이터 기반 타겟 마케팅으로 이용 전환율 극대화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02C5F"/>
              </a:gs>
              <a:gs pos="100000">
                <a:srgbClr val="0025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데이터 기반 타겟 마케팅과 소상공인 밀착 홍보로 서울배달+ 이용자 300% 확대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002C5F"/>
          </a:solidFill>
          <a:ln>
            <a:noFill/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Win Theme 1: 데이터 기반 타겟 마케팅으로 이용 전환율 극대화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00AAD2"/>
          </a:solidFill>
          <a:ln>
            <a:noFill/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Win Theme 2: 소상공인·시민 밀착형 공공배달 생태계 확장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92024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00A19C"/>
          </a:solidFill>
          <a:ln>
            <a:noFill/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Win Theme 3: 콘텐츠 중심 온·오프라인 통합 브랜드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C5F"/>
                </a:solidFill>
                <a:latin typeface="Pretendard SemiBold"/>
              </a:defRPr>
            </a:pPr>
            <a:r>
              <a:t>핵심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2579293" cy="14224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2304973" cy="4800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2C5F"/>
                </a:solidFill>
                <a:latin typeface="Pretendard Bold"/>
              </a:defRPr>
            </a:pPr>
            <a:r>
              <a:t>300%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9291"/>
            <a:ext cx="230497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이용자 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9332"/>
            <a:ext cx="2396413" cy="3611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현 대비 3배 성장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973" y="2834640"/>
            <a:ext cx="2579293" cy="14224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3447973" y="283464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5133" y="2999232"/>
            <a:ext cx="2304973" cy="4800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AAD2"/>
                </a:solidFill>
                <a:latin typeface="Pretendard Bold"/>
              </a:defRPr>
            </a:pPr>
            <a: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5133" y="3479291"/>
            <a:ext cx="230497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브랜드 인지도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9413" y="3799332"/>
            <a:ext cx="2396413" cy="3611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서울 시민 기준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2834640"/>
            <a:ext cx="2579293" cy="14224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164427" y="283464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1587" y="2999232"/>
            <a:ext cx="2304973" cy="4800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A19C"/>
                </a:solidFill>
                <a:latin typeface="Pretendard Bold"/>
              </a:defRPr>
            </a:pPr>
            <a:r>
              <a:t>5,000개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1587" y="3479291"/>
            <a:ext cx="230497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신규 가맹점 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3799332"/>
            <a:ext cx="2396413" cy="3611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연내 목표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0881" y="2834640"/>
            <a:ext cx="2579293" cy="14224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8880881" y="283464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8041" y="2999232"/>
            <a:ext cx="2304973" cy="4800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63312"/>
                </a:solidFill>
                <a:latin typeface="Pretendard Bold"/>
              </a:defRPr>
            </a:pPr>
            <a:r>
              <a:t>50만 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8041" y="3479291"/>
            <a:ext cx="230497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월간 주문 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2321" y="3799332"/>
            <a:ext cx="2396413" cy="3611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12월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C5F"/>
                </a:solidFill>
                <a:latin typeface="Pretendard SemiBold"/>
              </a:defRPr>
            </a:pPr>
            <a:r>
              <a:t>Why 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17720"/>
            <a:ext cx="10728655" cy="1097280"/>
          </a:xfrm>
          <a:prstGeom prst="rect">
            <a:avLst/>
          </a:prstGeom>
          <a:solidFill>
            <a:srgbClr val="FAFAFC"/>
          </a:solidFill>
          <a:ln w="1270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709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— 공공 홍보마케팅 전문 — 유사 용역 10건+ 수행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709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— 데이터 기반 퍼포먼스 마케팅 역량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709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— 소상공인·지역사회 밀착형 홍보 네트워크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시장 환경 분석 및 핵심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공공배달 시장의 구조적 기회와 소비자 니즈를 읽다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데이터 기반 타겟 마케팅으로 이용 전환율 극대화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배달앱 시장 26조원 시대, 공공배달의 구조적 성장 기회 도래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579293" cy="11887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00937"/>
            <a:ext cx="2579293" cy="45171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2C5F"/>
                </a:solidFill>
                <a:latin typeface="Pretendard"/>
              </a:defRPr>
            </a:pPr>
            <a:r>
              <a:t>26.3조원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2651"/>
            <a:ext cx="2579293" cy="2615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배달앱 시장 규모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37943"/>
            <a:ext cx="2432989" cy="33284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57575"/>
                </a:solidFill>
                <a:latin typeface="Pretendard"/>
              </a:defRPr>
            </a:pPr>
            <a:r>
              <a:t>전년 대비 +8.5%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973" y="2377440"/>
            <a:ext cx="2579293" cy="11887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237744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973" y="2472537"/>
            <a:ext cx="2579293" cy="45171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AAD2"/>
                </a:solidFill>
                <a:latin typeface="Pretendard"/>
              </a:defRPr>
            </a:pPr>
            <a:r>
              <a:t>57.3%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973" y="2924251"/>
            <a:ext cx="2579293" cy="2615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배달앱 이용률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1125" y="3209543"/>
            <a:ext cx="2432989" cy="33284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57575"/>
                </a:solidFill>
                <a:latin typeface="Pretendard"/>
              </a:defRPr>
            </a:pPr>
            <a:r>
              <a:t>20~40대 주간 1회+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2377440"/>
            <a:ext cx="2579293" cy="11887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427" y="237744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4427" y="2472537"/>
            <a:ext cx="2579293" cy="45171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A19C"/>
                </a:solidFill>
                <a:latin typeface="Pretendard"/>
              </a:defRPr>
            </a:pPr>
            <a:r>
              <a:t>38.2%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4427" y="2924251"/>
            <a:ext cx="2579293" cy="2615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가치소비 증가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7579" y="3209543"/>
            <a:ext cx="2432989" cy="33284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57575"/>
                </a:solidFill>
                <a:latin typeface="Pretendard"/>
              </a:defRPr>
            </a:pPr>
            <a:r>
              <a:t>'착한소비' 관심도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0881" y="2377440"/>
            <a:ext cx="2579293" cy="11887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0881" y="237744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0881" y="2472537"/>
            <a:ext cx="2579293" cy="45171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E63312"/>
                </a:solidFill>
                <a:latin typeface="Pretendard"/>
              </a:defRPr>
            </a:pPr>
            <a:r>
              <a:t>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0881" y="2924251"/>
            <a:ext cx="2579293" cy="2615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공공배달 점유율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4033" y="3209543"/>
            <a:ext cx="2432989" cy="33284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57575"/>
                </a:solidFill>
                <a:latin typeface="Pretendard"/>
              </a:defRPr>
            </a:pPr>
            <a:r>
              <a:t>성장 잠재력 높음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468880"/>
            <a:ext cx="10728655" cy="109728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05840" y="2560320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Pretendard SemiBold"/>
              </a:defRPr>
            </a:pPr>
            <a:r>
              <a:t>공공배달은 '가치소비' 트렌드와 맞물려 구조적 성장 가능성 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01752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Pretendard Light"/>
              </a:defRPr>
            </a:pPr>
            <a:r>
              <a:t>수수료 절감 → 소상공인 이익 증가 → 시민 참여 확대의 선순환 구조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79"/>
            <a:ext cx="3454298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840479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시장 기회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89119"/>
            <a:ext cx="31799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가치소비 트렌드 확산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공공배달 수요 기반 확대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소비자 인식 전환점 도달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8698" y="3840479"/>
            <a:ext cx="3454298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68698" y="3840479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성장 동력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5858" y="4389119"/>
            <a:ext cx="31799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서울시 정책 지원 강화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가맹점 수수료 혜택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시민 참여 인센티브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876" y="3840479"/>
            <a:ext cx="3454298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876" y="3840479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핵심 과제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3036" y="4389119"/>
            <a:ext cx="31799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낮은 인지도(32%)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앱 사용성 개선 필요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습관적 이용 전환 유도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통계청 배달앱 이용실태 조사(2025), 한국소비자원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핵심 타겟은 20~40대, 하루 평균 SNS 72분 사용하는 디지털 네이티브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타겟 세분화: 소비자(이용자) + 소상공인(가맹점) 양면 전략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3683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1차 타겟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2차 타겟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011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3차 타겟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소비자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20~30대 1인 가구</a:t>
            </a:r>
            <a:br/>
            <a:r>
              <a:t>배달앱 Heavy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30~40대 맞벌이 가구</a:t>
            </a:r>
            <a:br/>
            <a:r>
              <a:t>가성비 중시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011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50대+</a:t>
            </a:r>
            <a:br/>
            <a:r>
              <a:t>가치소비 관심층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소상공인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3683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배달 미입점 식당</a:t>
            </a:r>
            <a:br/>
            <a:r>
              <a:t>수수료 부담 호소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기존 배달앱 이용</a:t>
            </a:r>
            <a:br/>
            <a:r>
              <a:t>수수료 불만 업주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신규 창업자</a:t>
            </a:r>
            <a:br/>
            <a:r>
              <a:t>초기 비용 절감 니즈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핵심 매체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3683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인스타그램, 유튜브</a:t>
            </a:r>
            <a:br/>
            <a:r>
              <a:t>틱톡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네이버, 카카오</a:t>
            </a:r>
            <a:br/>
            <a:r>
              <a:t>맘카페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011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지역신문, 버스광고</a:t>
            </a:r>
            <a:br/>
            <a:r>
              <a:t>마트 전단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5272887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5272887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디지털 접점 공략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77840"/>
            <a:ext cx="499856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SNS 72분/일 사용 타겟에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숏폼·릴스 중심 콘텐츠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7287" y="5029200"/>
            <a:ext cx="5272887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7287" y="5029200"/>
            <a:ext cx="5272887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지역 밀착 접점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7" y="5577840"/>
            <a:ext cx="499856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대중교통·옥외광고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생활 동선 밀착 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과학기술정보통신부 인터넷이용실태조사(2025)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민간 배달앱 대비 '수수료·공공성' 차별 우위, 인지도 확보가 관건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090007" cy="457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민간 배달앱 (배민·쿠팡이츠)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90007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1568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수수료 15~25%로 소상공인 부담 가중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대규모 마케팅 투자로 높은 인지도 확보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빠른 배달 인프라 + UX 편의성 강점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소비자 록인(lock-in) 효과 강력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527" y="1463040"/>
            <a:ext cx="548640" cy="274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AAD2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005840"/>
            <a:ext cx="5090007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공공배달앱 (서울배달+)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463040"/>
            <a:ext cx="5090007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1554480"/>
            <a:ext cx="481568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수수료 2~5%로 소상공인 실질 수익 보전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서울시 공공 신뢰 + 정책 연계 시너지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가치소비(착한소비) 포지셔닝 가능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지역경제 활성화 사회적 가치 창출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79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전략 방향: '가격 경쟁'이 아닌 '가치 경쟁'으로 공공배달 고유 포지션 확립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19"/>
            <a:ext cx="10728655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49239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16751"/>
            <a:ext cx="10728655" cy="3566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경쟁 포지셔닝 맵 (가격-가치 2×2 매트릭스)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자체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서울배달+ 인지도 32% vs 이용 경험 8%, 전환 Gap 해소가 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005840"/>
          <a:ext cx="50292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47472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3454298" cy="4572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인지도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공공배달 존재 자체를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모르는 시민이 68%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→ 대규모 인지도 캠페인 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347472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3474720"/>
            <a:ext cx="3454298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전환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402336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인지 → 설치 전환율 47%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설치 → 이용 전환율 53%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→ 설치 유도 + 첫 주문 혜택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5876" y="347472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5876" y="347472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리텐션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402336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이용 → 정기이용 38%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→ 재주문 인센티브 +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습관 형성 프로그램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서울시 공공배달 서비스 이용실태 조사(2025)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소상공인 67%가 수수료 부담 호소, 공공배달 전환 의향 높음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2C5F"/>
                </a:solidFill>
                <a:latin typeface="Pretendard Bold"/>
              </a:defRPr>
            </a:pPr>
            <a:r>
              <a:t>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수수료 부담</a:t>
            </a:r>
            <a:br/>
            <a:r>
              <a:t>호소 비율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973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100584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AD2"/>
                </a:solidFill>
                <a:latin typeface="Pretendard Bold"/>
              </a:defRPr>
            </a:pPr>
            <a: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공공배달</a:t>
            </a:r>
            <a:br/>
            <a:r>
              <a:t>전환 의향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4427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4427" y="100584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4427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19C"/>
                </a:solidFill>
                <a:latin typeface="Pretendard Bold"/>
              </a:defRPr>
            </a:pPr>
            <a:r>
              <a:t>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4427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배달앱 2개+</a:t>
            </a:r>
            <a:br/>
            <a:r>
              <a:t>병행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0881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0881" y="100584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0881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3312"/>
                </a:solidFill>
                <a:latin typeface="Pretendard Bold"/>
              </a:defRPr>
            </a:pPr>
            <a:r>
              <a:t>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0881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홍보 지원 시</a:t>
            </a:r>
            <a:br/>
            <a:r>
              <a:t>입점 의향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468880"/>
            <a:ext cx="10728655" cy="109728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Pretendard SemiBold"/>
              </a:defRPr>
            </a:pPr>
            <a:r>
              <a:t>소상공인 입점 확대 = 서비스 다양성 확보 = 소비자 이용률 증가의 선순환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01752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Pretendard Light"/>
              </a:defRPr>
            </a:pPr>
            <a:r>
              <a:t>가맹점-소비자 양면 플랫폼 전략의 핵심은 공급(가맹점) 확보 우선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79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3840479"/>
            <a:ext cx="2579293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밀착형 입점 유도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97679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권역별 현장 설명회 +</a:t>
            </a:r>
            <a:br/>
            <a:r>
              <a:t>성공 사례 공유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47973" y="3840479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47973" y="3840479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온보딩 지원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9413" y="4297679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입점 초기 3개월</a:t>
            </a:r>
            <a:br/>
            <a:r>
              <a:t>무료 마케팅 지원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4427" y="3840479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4427" y="3840479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수수료 비교 홍보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5867" y="4297679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민간 vs 공공 수수료</a:t>
            </a:r>
            <a:br/>
            <a:r>
              <a:t>절감 효과 시각화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0881" y="3840479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80881" y="3840479"/>
            <a:ext cx="2579293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우수 가맹점 포상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2321" y="4297679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월간 우수 가맹점</a:t>
            </a:r>
            <a:br/>
            <a:r>
              <a:t>인증 배지 + 홍보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소상공인시장진흥공단 실태조사(2025)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CONCEPT &amp;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핵심 컨셉 및 차별화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가치소비 트렌드를 공공배달의 성장 엔진으로 전환하다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콘텐츠 중심 온·오프라인 통합 브랜드 경험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AAD2"/>
                </a:solidFill>
                <a:latin typeface="Pretendard SemiBold"/>
              </a:defRPr>
            </a:pPr>
            <a: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Pretendard Bold"/>
              </a:defRPr>
            </a:pPr>
            <a:r>
              <a:t>배달은 서울답게</a:t>
            </a:r>
            <a:br/>
            <a:r>
              <a:t>소비는 가치있게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22860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서울배달+만의 '공공 가치'를 시민 체감형 메시지로 전환하여</a:t>
            </a:r>
            <a:br/>
            <a:r>
              <a:t>일상 속 자연스러운 브랜드 경험을 설계합니다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579293" cy="1645920"/>
          </a:xfrm>
          <a:prstGeom prst="roundRect">
            <a:avLst>
              <a:gd name="adj" fmla="val 6000"/>
            </a:avLst>
          </a:prstGeom>
          <a:solidFill>
            <a:srgbClr val="002C5F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2579293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인지도 확보</a:t>
            </a:r>
            <a:br/>
            <a:r>
              <a:t>대규모 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4572000"/>
            <a:ext cx="2579293" cy="1645920"/>
          </a:xfrm>
          <a:prstGeom prst="roundRect">
            <a:avLst>
              <a:gd name="adj" fmla="val 6000"/>
            </a:avLst>
          </a:prstGeom>
          <a:solidFill>
            <a:srgbClr val="00AAD2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47973" y="470916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ENGAGE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973" y="5074920"/>
            <a:ext cx="2579293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공감 유도</a:t>
            </a:r>
            <a:br/>
            <a:r>
              <a:t>콘텐츠 전략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4572000"/>
            <a:ext cx="2579293" cy="1645920"/>
          </a:xfrm>
          <a:prstGeom prst="roundRect">
            <a:avLst>
              <a:gd name="adj" fmla="val 6000"/>
            </a:avLst>
          </a:prstGeom>
          <a:solidFill>
            <a:srgbClr val="00A19C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64427" y="470916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CONVERT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4427" y="5074920"/>
            <a:ext cx="2579293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이용 전환</a:t>
            </a:r>
            <a:br/>
            <a:r>
              <a:t>퍼포먼스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0881" y="4572000"/>
            <a:ext cx="2579293" cy="1645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880881" y="470916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Pretendard Bold"/>
              </a:defRPr>
            </a:pPr>
            <a:r>
              <a:t>RETAIN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0881" y="5074920"/>
            <a:ext cx="2579293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재이용 유도</a:t>
            </a:r>
            <a:br/>
            <a:r>
              <a:t>리텐션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3대 Win Theme이 만드는 시너지, 인지-전환-확산의 순환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02C5F"/>
              </a:gs>
              <a:gs pos="100000">
                <a:srgbClr val="0025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Win Theme 1+2+3의 유기적 연결이 서울배달+ 성장의 핵심 동력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84778" cy="1371600"/>
          </a:xfrm>
          <a:prstGeom prst="roundRect">
            <a:avLst>
              <a:gd name="adj" fmla="val 6000"/>
            </a:avLst>
          </a:prstGeom>
          <a:solidFill>
            <a:srgbClr val="002C5F"/>
          </a:solidFill>
          <a:ln>
            <a:noFill/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Pretendard SemiBold"/>
              </a:defRPr>
            </a:pPr>
            <a:r>
              <a:t>Win Theme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484778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데이터 기반 타겟 마케팅으로 이용 전환율 극대화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2103120"/>
            <a:ext cx="3484778" cy="1371600"/>
          </a:xfrm>
          <a:prstGeom prst="roundRect">
            <a:avLst>
              <a:gd name="adj" fmla="val 6000"/>
            </a:avLst>
          </a:prstGeom>
          <a:solidFill>
            <a:srgbClr val="00A19C"/>
          </a:solidFill>
          <a:ln>
            <a:noFill/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353458" y="210312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Pretendard SemiBold"/>
              </a:defRPr>
            </a:pPr>
            <a:r>
              <a:t>Win Theme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2468880"/>
            <a:ext cx="3484778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소상공인·시민 밀착형 공공배달 생태계 확장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5396" y="2103120"/>
            <a:ext cx="3484778" cy="1371600"/>
          </a:xfrm>
          <a:prstGeom prst="roundRect">
            <a:avLst>
              <a:gd name="adj" fmla="val 6000"/>
            </a:avLst>
          </a:prstGeom>
          <a:solidFill>
            <a:srgbClr val="00AAD2"/>
          </a:solidFill>
          <a:ln>
            <a:noFill/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975396" y="210312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Pretendard SemiBold"/>
              </a:defRPr>
            </a:pPr>
            <a:r>
              <a:t>Win Theme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5396" y="2468880"/>
            <a:ext cx="3484778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콘텐츠 중심 온·오프라인 통합 브랜드 경험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2442133" cy="21031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인지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대규모 미디어 노출로</a:t>
            </a:r>
            <a:br/>
            <a:r>
              <a:t>브랜드 인식 각인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3653" y="3840480"/>
            <a:ext cx="32004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693" y="3840480"/>
            <a:ext cx="2442133" cy="210312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공감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693" y="603504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타겟 맞춤 콘텐츠로</a:t>
            </a:r>
            <a:br/>
            <a:r>
              <a:t>가치소비 동기부여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5826" y="3840480"/>
            <a:ext cx="32004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5867" y="3840480"/>
            <a:ext cx="2442133" cy="210312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이용 활성화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603504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프로모션+UX로</a:t>
            </a:r>
            <a:br/>
            <a:r>
              <a:t>첫 주문 유도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000" y="3840480"/>
            <a:ext cx="32004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041" y="3840480"/>
            <a:ext cx="2442133" cy="210312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충성 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8041" y="603504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리텐션 프로그램으로</a:t>
            </a:r>
            <a:br/>
            <a:r>
              <a:t>습관적 이용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'착한 배달, 서울이 함께' — 캠페인 슬로건으로 가치소비 운동화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005840"/>
            <a:ext cx="6153912" cy="1645920"/>
          </a:xfrm>
          <a:prstGeom prst="roundRect">
            <a:avLst>
              <a:gd name="adj" fmla="val 8000"/>
            </a:avLst>
          </a:prstGeom>
          <a:solidFill>
            <a:srgbClr val="002C5F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017520" y="1097280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AAD2"/>
                </a:solidFill>
                <a:latin typeface="Pretendard SemiBold"/>
              </a:defRPr>
            </a:pPr>
            <a:r>
              <a:t>CAMPAIGN SLOGAN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17320"/>
            <a:ext cx="6153912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Pretendard Bold"/>
              </a:defRPr>
            </a:pPr>
            <a:r>
              <a:t>착한 배달, 서울이 함께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8C8"/>
                </a:solidFill>
                <a:latin typeface="Pretendard"/>
              </a:defRPr>
            </a:pPr>
            <a:r>
              <a:t>서울배달+로 주문하면 소상공인은 웃고, 우리 동네는 살아납니다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STEP 1: 인식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공공배달 = 착한소비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가치 소비 캠페인 전개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대형 미디어 + SNS 동시 노출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310896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310896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STEP 2: 경험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365760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첫 주문 무료배달 쿠폰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소상공인 스토리텔링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우리동네 맛집 큐레이션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5876" y="310896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5876" y="310896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STEP 3: 확산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365760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시민 참여 챌린지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UGC 콘텐츠 확산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입소문 리워드 프로그램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민간 배달앱이 따라올 수 없는 3가지 공공 가치 기반 차별화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746846" y="1005840"/>
            <a:ext cx="548640" cy="54864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공공 신뢰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396413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서울시 공식 브랜드의 신뢰성과 안전성</a:t>
            </a:r>
            <a:br/>
            <a:r>
              <a:t>→ '믿고 쓰는 배달' 포지셔닝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3299" y="1005840"/>
            <a:ext cx="548640" cy="54864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973" y="164592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상생 가치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9413" y="1920240"/>
            <a:ext cx="2396413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수수료 절감분이 소상공인 수익으로 전환</a:t>
            </a:r>
            <a:br/>
            <a:r>
              <a:t>→ '착한 소비' 체감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9753" y="1005840"/>
            <a:ext cx="548640" cy="5486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4427" y="164592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지역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1920240"/>
            <a:ext cx="2396413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우리 동네 가게 발견, 지역 커뮤니티 활성화</a:t>
            </a:r>
            <a:br/>
            <a:r>
              <a:t>→ '동네 살리기' 감성 터치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96207" y="1005840"/>
            <a:ext cx="548640" cy="54864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0881" y="1645920"/>
            <a:ext cx="2579293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정책 시너지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2321" y="1920240"/>
            <a:ext cx="2396413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서울시 소상공인 지원정책 연계 프로모션</a:t>
            </a:r>
            <a:br/>
            <a:r>
              <a:t>→ 민간앱 불가능한 혜택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핵심: 가격 경쟁이 아닌 '의미 있는 소비' 경험을 설계하여 차별화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0728655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4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차별화 전략 인포그래픽 (공공 가치 → 시민 체감 흐름)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상세 실행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인지도 확보부터 리텐션까지, 단계별 정밀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데이터 기반 타겟 마케팅으로 이용 전환율 극대화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4단계 DECR 전략으로 인지-공감-전환-유지 Full Funnel 커버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442133" cy="2286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D: Discover</a:t>
            </a:r>
            <a:br/>
            <a:r>
              <a:t>인지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대중교통·옥외·언론</a:t>
            </a:r>
            <a:br/>
            <a:r>
              <a:t>대규모 노출로</a:t>
            </a:r>
            <a:br/>
            <a:r>
              <a:t>브랜드 인식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3653" y="1005840"/>
            <a:ext cx="32004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693" y="1005840"/>
            <a:ext cx="2442133" cy="22860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E: Engage</a:t>
            </a:r>
            <a:br/>
            <a:r>
              <a:t>공감 유도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693" y="338328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SNS·영상 콘텐츠</a:t>
            </a:r>
            <a:br/>
            <a:r>
              <a:t>타겟 맞춤 스토리로</a:t>
            </a:r>
            <a:br/>
            <a:r>
              <a:t>가치소비 공감 유도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5826" y="1005840"/>
            <a:ext cx="32004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5867" y="1005840"/>
            <a:ext cx="2442133" cy="22860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C: Convert</a:t>
            </a:r>
            <a:br/>
            <a:r>
              <a:t>이용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338328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프로모션·이벤트</a:t>
            </a:r>
            <a:br/>
            <a:r>
              <a:t>첫 주문 유도 +</a:t>
            </a:r>
            <a:br/>
            <a:r>
              <a:t>설치 전환 캠페인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000" y="1005840"/>
            <a:ext cx="32004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8041" y="1005840"/>
            <a:ext cx="2442133" cy="22860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R: Retain</a:t>
            </a:r>
            <a:br/>
            <a:r>
              <a:t>재이용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8041" y="338328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리워드·커뮤니티</a:t>
            </a:r>
            <a:br/>
            <a:r>
              <a:t>습관적 이용 유도 +</a:t>
            </a:r>
            <a:br/>
            <a:r>
              <a:t>충성 고객 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단계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3683" y="365760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목표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365760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핵심 KPI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011" y="365760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주요 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Discover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3683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인지도 32%→80%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노출 수 1억 회+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011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버스·지하철·옥외·TV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Engage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3683" y="44805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호감도 50%+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44805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콘텐츠 조회 500만+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011" y="44805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인스타·유튜브·틱톡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920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8920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Convert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3683" y="48920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설치 전환 +200%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5847" y="48920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신규 설치 30만+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011" y="48920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퍼포먼스 광고·프로모션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3035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3035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Retain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13683" y="53035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재주문율 40%+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5847" y="53035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MAU 15만+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011" y="53035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푸시·리워드·커뮤니티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150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3~12월 연간 로드맵: 런칭 → 확산 → 정착 3단계 캠페인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1828800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3월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2601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4월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443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5월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94284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6월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5126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7월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5967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8월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809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9월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17650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10월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8492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11월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79333" y="1005840"/>
            <a:ext cx="862553" cy="36576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12월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417320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4356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브랜드 인지도 캠페인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472184"/>
            <a:ext cx="862553" cy="329184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2601" y="1472184"/>
            <a:ext cx="862553" cy="329184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3443" y="1472184"/>
            <a:ext cx="862553" cy="329184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4284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5126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55967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6809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17650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8492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79333" y="14173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187452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18928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SNS 콘텐츠 운영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32601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13443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94284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5126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5967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36809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17650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8492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579333" y="1929384"/>
            <a:ext cx="862553" cy="329184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2331720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3500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타겟 맞춤 광고 집행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23317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32601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13443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94284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5126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55967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36809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17650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98492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579333" y="2386584"/>
            <a:ext cx="862553" cy="329184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78892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28072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가맹점 입점 캠페인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1760" y="2843784"/>
            <a:ext cx="862553" cy="329184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32601" y="2843784"/>
            <a:ext cx="862553" cy="329184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13443" y="2843784"/>
            <a:ext cx="862553" cy="329184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94284" y="2843784"/>
            <a:ext cx="862553" cy="329184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5126" y="27889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55967" y="27889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36809" y="2843784"/>
            <a:ext cx="862553" cy="329184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17650" y="2843784"/>
            <a:ext cx="862553" cy="329184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98492" y="27889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79333" y="27889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" y="3246120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32644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시민 참여 이벤트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532601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13443" y="3300984"/>
            <a:ext cx="862553" cy="32918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94284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5126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55967" y="3300984"/>
            <a:ext cx="862553" cy="32918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36809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17650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98492" y="3300984"/>
            <a:ext cx="862553" cy="32918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79333" y="32461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1520" y="370332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37216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시즌 프로모션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51760" y="37033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32601" y="37033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13443" y="3758184"/>
            <a:ext cx="862553" cy="329184"/>
          </a:xfrm>
          <a:prstGeom prst="rect">
            <a:avLst/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294284" y="3758184"/>
            <a:ext cx="862553" cy="329184"/>
          </a:xfrm>
          <a:prstGeom prst="rect">
            <a:avLst/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5126" y="37033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55967" y="37033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936809" y="3758184"/>
            <a:ext cx="862553" cy="329184"/>
          </a:xfrm>
          <a:prstGeom prst="rect">
            <a:avLst/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817650" y="3758184"/>
            <a:ext cx="862553" cy="329184"/>
          </a:xfrm>
          <a:prstGeom prst="rect">
            <a:avLst/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98492" y="3703320"/>
            <a:ext cx="862553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79333" y="3758184"/>
            <a:ext cx="862553" cy="329184"/>
          </a:xfrm>
          <a:prstGeom prst="rect">
            <a:avLst/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1520" y="4160520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1788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"/>
              </a:defRPr>
            </a:pPr>
            <a:r>
              <a:t>효과 분석 및 리포팅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51760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532601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413443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94284" y="4215384"/>
            <a:ext cx="862553" cy="329184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75126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055967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36809" y="4215384"/>
            <a:ext cx="862553" cy="329184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817650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698492" y="4160520"/>
            <a:ext cx="862553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579333" y="4215384"/>
            <a:ext cx="862553" cy="329184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1520" y="5394960"/>
            <a:ext cx="3454298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31520" y="539496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1단계: 런칭 (3~5월)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" y="5943600"/>
            <a:ext cx="31799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브랜드 인지도 확보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대규모 미디어 노출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첫 가맹점 확보 캠페인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68698" y="5394960"/>
            <a:ext cx="3454298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68698" y="539496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2단계: 확산 (6~9월)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05858" y="5943600"/>
            <a:ext cx="31799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타겟별 맞춤 광고 집행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시민 참여 이벤트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시즌 프로모션 진행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05876" y="5394960"/>
            <a:ext cx="3454298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005876" y="539496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3단계: 정착 (10~12월)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43036" y="5943600"/>
            <a:ext cx="31799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리텐션 프로그램 강화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효과 분석 및 최적화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차년도 전략 수립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숏폼 중심 콘텐츠 전략으로 20~40대 타겟 일상 침투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콘텐츠 핵심 원칙: 정책 홍보가 아닌, 시민이 공유하고 싶은 콘텐츠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84778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숏폼 영상 (릴스·숏츠)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15~60초 임팩트 영상</a:t>
            </a:r>
            <a:br/>
            <a:r>
              <a:t>소상공인 스토리텔링</a:t>
            </a:r>
            <a:br/>
            <a:r>
              <a:t>월 8~12건 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3458" y="201168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3458" y="2011680"/>
            <a:ext cx="3484778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카드뉴스·인포그래픽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246888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수수료 비교, 혜택 안내</a:t>
            </a:r>
            <a:br/>
            <a:r>
              <a:t>시각적 정보 전달</a:t>
            </a:r>
            <a:br/>
            <a:r>
              <a:t>월 10~15건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5396" y="201168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75396" y="2011680"/>
            <a:ext cx="3484778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인플루언서 협업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6836" y="246888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맛집 리뷰어·지역 크리에이터</a:t>
            </a:r>
            <a:br/>
            <a:r>
              <a:t>서울배달+ 체험 콘텐츠</a:t>
            </a:r>
            <a:br/>
            <a:r>
              <a:t>분기별 5인+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484778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UGC 캠페인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시민 참여형 콘텐츠</a:t>
            </a:r>
            <a:br/>
            <a:r>
              <a:t>#착한배달서울 챌린지</a:t>
            </a:r>
            <a:br/>
            <a:r>
              <a:t>바이럴 확산 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3458" y="361188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3458" y="3611880"/>
            <a:ext cx="3484778" cy="411480"/>
          </a:xfrm>
          <a:prstGeom prst="roundRect">
            <a:avLst>
              <a:gd name="adj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오프라인 홍보물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406908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포스터·리플렛·배너</a:t>
            </a:r>
            <a:br/>
            <a:r>
              <a:t>가맹점 매장 부착용</a:t>
            </a:r>
            <a:br/>
            <a:r>
              <a:t>가맹점 키트 제작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5396" y="361188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75396" y="3611880"/>
            <a:ext cx="3484778" cy="411480"/>
          </a:xfrm>
          <a:prstGeom prst="roundRect">
            <a:avLst>
              <a:gd name="adj" fmla="val 0"/>
            </a:avLst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영상 광고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6836" y="406908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TV·옥외 30초 광고</a:t>
            </a:r>
            <a:br/>
            <a:r>
              <a:t>감성 스토리텔링</a:t>
            </a:r>
            <a:br/>
            <a:r>
              <a:t>브랜드 캠페인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10728655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99632"/>
            <a:ext cx="10728655" cy="3566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콘텐츠 제작 예시 (숏폼 영상 스토리보드)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인스타그램 중심, 플랫폼별 최적화 콘텐츠로 도달률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145731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7251" y="1005840"/>
            <a:ext cx="2145731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타겟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2982" y="1005840"/>
            <a:ext cx="2145731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콘텐츠 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713" y="1005840"/>
            <a:ext cx="2145731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빈도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14444" y="1005840"/>
            <a:ext cx="2145731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인스타그램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7251" y="141732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20~30대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2982" y="141732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릴스·카드뉴스·스토리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8713" y="141732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 5회+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14444" y="141732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도달 100만/월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8288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182880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유튜브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7251" y="182880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 연령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2982" y="182880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숏츠·브이로그·리뷰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713" y="182880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 2회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14444" y="182880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조회 50만/월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402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24028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틱톡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7251" y="224028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10~20대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2982" y="224028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챌린지·트렌드 콘텐츠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68713" y="224028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 3회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444" y="224028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조회 30만/월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265176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네이버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77251" y="265176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30~50대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2982" y="265176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블로그·카페 체험단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713" y="265176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 3회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14444" y="2651760"/>
            <a:ext cx="2145731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유입 5만/월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0632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06324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카카오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77251" y="306324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 연령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2982" y="306324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카카오톡 채널·선물하기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68713" y="306324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 2회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14444" y="3063240"/>
            <a:ext cx="2145731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친구 10만+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4747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4297679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4297679"/>
            <a:ext cx="3454298" cy="4572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핵심 채널: 인스타그램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846319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릴스 알고리즘 활용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해시태그 전략 수립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스토리 설문·투표 활용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68698" y="4297679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8698" y="4297679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확장 채널: 유튜브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5858" y="4846319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먹방·리뷰 크리에이터 협업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서울배달+ 브랜디드 콘텐츠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검색 최적화(SEO)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5876" y="4297679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05876" y="4297679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바이럴 채널: 틱톡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3036" y="4846319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#착한배달 챌린지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트렌드 밈 활용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10~20대 유입 확보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소비자 타겟별 매체 최적화로 노출 효율 300% 향상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연령·라이프스타일별 차별화된 메시지와 매체 조합으로 효율 극대화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95747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대중교통 광고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지하철·버스 내부 광고</a:t>
            </a:r>
            <a:br/>
            <a:r>
              <a:t>출퇴근 동선 밀착 노출</a:t>
            </a:r>
            <a:br/>
            <a:r>
              <a:t>20~40대 직장인 타겟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4427" y="201168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64427" y="2011680"/>
            <a:ext cx="5295747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옥외 전광판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246888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오피스·상업 밀집 지역</a:t>
            </a:r>
            <a:br/>
            <a:r>
              <a:t>대형 LED + 아파트 TV</a:t>
            </a:r>
            <a:br/>
            <a:r>
              <a:t>일 노출 50만+ 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295747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언론·방송 매체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시사·경제 채널 광고</a:t>
            </a:r>
            <a:br/>
            <a:r>
              <a:t>가치소비 이슈 연계</a:t>
            </a:r>
            <a:br/>
            <a:r>
              <a:t>단기간 대량 노출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361188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4427" y="3611880"/>
            <a:ext cx="5295747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디지털 퍼포먼스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867" y="406908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배달 관련 키워드 광고</a:t>
            </a:r>
            <a:br/>
            <a:r>
              <a:t>리타게팅 배너 캠페인</a:t>
            </a:r>
            <a:br/>
            <a:r>
              <a:t>CPI 3,000원 이하 목표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5272887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5272887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매체 믹스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35040"/>
            <a:ext cx="499856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온라인 60% + 오프라인 40%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인지 확보 후 전환 집중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5486400"/>
            <a:ext cx="5272887" cy="13716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7287" y="5486400"/>
            <a:ext cx="5272887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기대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6035040"/>
            <a:ext cx="499856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총 노출 1억+ 회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앱 설치 30만+ 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소상공인 밀착형 3단계 입점 전략으로 연내 5,000개 가맹점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362858" cy="20116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STEP 1</a:t>
            </a:r>
            <a:br/>
            <a:r>
              <a:t>인식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36285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민간 vs 공공 수수료</a:t>
            </a:r>
            <a:br/>
            <a:r>
              <a:t>비교 시각화 콘텐츠</a:t>
            </a:r>
            <a:br/>
            <a:r>
              <a:t>소상공인 단체 연계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4378" y="1005840"/>
            <a:ext cx="32004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4418" y="1005840"/>
            <a:ext cx="3362858" cy="201168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STEP 2</a:t>
            </a:r>
            <a:br/>
            <a:r>
              <a:t>입점 유도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4418" y="3108960"/>
            <a:ext cx="336285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현장 설명회 (권역별)</a:t>
            </a:r>
            <a:br/>
            <a:r>
              <a:t>1:1 입점 컨설팅</a:t>
            </a:r>
            <a:br/>
            <a:r>
              <a:t>초기 3개월 무료 홍보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7276" y="1005840"/>
            <a:ext cx="32004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005840"/>
            <a:ext cx="3362858" cy="201168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STEP 3</a:t>
            </a:r>
            <a:br/>
            <a:r>
              <a:t>정착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3108960"/>
            <a:ext cx="336285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우수 가맹점 성공사례</a:t>
            </a:r>
            <a:br/>
            <a:r>
              <a:t>월간 포상 프로그램</a:t>
            </a:r>
            <a:br/>
            <a:r>
              <a:t>지속적 마케팅 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구분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3683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세부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011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시기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현장 설명회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3683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5대 권역 순회 설명회 (25개구)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설명회 50회+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011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3~6월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수수료 비교 홍보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3683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카드뉴스·리플렛 배포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5847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배포 10만부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011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3~12월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262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입점 인센티브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3683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초기 3개월 무료 홍보 지원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5847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전환율 30%+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011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4~9월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9377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37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우수 가맹점 포상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3683" y="4937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월간 최우수 가맹점 선정·홍보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5847" y="4937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참여율 60%+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011" y="4937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5~12월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492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과업내용서 기반 전략 수립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소비자·가맹점 양면 프로모션으로 신규 가입 50만+, 첫 주문 30만+ 유도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090007" cy="457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소비자 프로모션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90007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1568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첫 주문 무료배달 쿠폰 (신규 가입 시)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친구 초대 리워드 (쿠폰 공유 프로그램)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#착한배달서울 SNS 챌린지 (경품 추첨)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소상공인의 날 특별 이벤트 (할인·적립)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시즌별 프로모션 (명절·계절 한정)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527" y="1463040"/>
            <a:ext cx="548640" cy="274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AAD2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005840"/>
            <a:ext cx="5090007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가맹점 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463040"/>
            <a:ext cx="5090007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1554480"/>
            <a:ext cx="481568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신규 입점 축하 패키지 (홍보 키트 제공)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사업성 확인 프로그램 (초기 매출 보장)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우수 가맹점 인증 배지 부여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입점 기념 할인 이벤트 지원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성공사례 영상 제작·배포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2C5F"/>
                </a:solidFill>
                <a:latin typeface="Pretendard Bold"/>
              </a:defRPr>
            </a:pPr>
            <a:r>
              <a:t>50만+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389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신규 가입</a:t>
            </a:r>
            <a:br/>
            <a:r>
              <a:t>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973" y="44805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7973" y="448056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973" y="45902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AD2"/>
                </a:solidFill>
                <a:latin typeface="Pretendard Bold"/>
              </a:defRPr>
            </a:pPr>
            <a:r>
              <a:t>30만+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973" y="51389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첫 주문</a:t>
            </a:r>
            <a:br/>
            <a:r>
              <a:t>유도 목표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4427" y="44805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4427" y="448056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4427" y="45902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19C"/>
                </a:solidFill>
                <a:latin typeface="Pretendard Bold"/>
              </a:defRPr>
            </a:pPr>
            <a:r>
              <a:t>12회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4427" y="51389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연간 시즌</a:t>
            </a:r>
            <a:br/>
            <a:r>
              <a:t>프로모션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0881" y="44805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0881" y="448056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0881" y="45902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3312"/>
                </a:solidFill>
                <a:latin typeface="Pretendard Bold"/>
              </a:defRPr>
            </a:pPr>
            <a:r>
              <a:t>5,000개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0881" y="51389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가맹점 확보</a:t>
            </a:r>
            <a:br/>
            <a:r>
              <a:t>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시즌·이슈에 맞춘 12회 프로모션으로 연중 화제성 유지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381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4657" y="1353312"/>
            <a:ext cx="219456" cy="219456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8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2145731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C5F"/>
                </a:solidFill>
                <a:latin typeface="Pretendard"/>
              </a:defRPr>
            </a:pPr>
            <a:r>
              <a:t>3~4월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205429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Pretendard"/>
              </a:defRPr>
            </a:pPr>
            <a:r>
              <a:t>런칭 캠페인</a:t>
            </a:r>
            <a:br/>
            <a:r>
              <a:t>'착한 배달 시작'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388" y="1353312"/>
            <a:ext cx="219456" cy="219456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8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77251" y="1005840"/>
            <a:ext cx="2145731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AD2"/>
                </a:solidFill>
                <a:latin typeface="Pretendard"/>
              </a:defRPr>
            </a:pPr>
            <a:r>
              <a:t>5월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971" y="1645920"/>
            <a:ext cx="205429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Pretendard"/>
              </a:defRPr>
            </a:pPr>
            <a:r>
              <a:t>소상공인의 날</a:t>
            </a:r>
            <a:br/>
            <a:r>
              <a:t>특별 프로모션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6119" y="1353312"/>
            <a:ext cx="219456" cy="219456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8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022982" y="1005840"/>
            <a:ext cx="2145731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19C"/>
                </a:solidFill>
                <a:latin typeface="Pretendard"/>
              </a:defRPr>
            </a:pPr>
            <a:r>
              <a:t>6~7월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8702" y="1645920"/>
            <a:ext cx="205429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Pretendard"/>
              </a:defRPr>
            </a:pPr>
            <a:r>
              <a:t>여름 시즌</a:t>
            </a:r>
            <a:br/>
            <a:r>
              <a:t>배달 축제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1850" y="1353312"/>
            <a:ext cx="219456" cy="219456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8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168713" y="1005840"/>
            <a:ext cx="2145731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3312"/>
                </a:solidFill>
                <a:latin typeface="Pretendard"/>
              </a:defRPr>
            </a:pPr>
            <a:r>
              <a:t>9~10월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433" y="1645920"/>
            <a:ext cx="205429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Pretendard"/>
              </a:defRPr>
            </a:pPr>
            <a:r>
              <a:t>추석 연계</a:t>
            </a:r>
            <a:br/>
            <a:r>
              <a:t>우리동네 맛집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77581" y="1353312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8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314444" y="1005840"/>
            <a:ext cx="2145731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7D32"/>
                </a:solidFill>
                <a:latin typeface="Pretendard"/>
              </a:defRPr>
            </a:pPr>
            <a:r>
              <a:t>11~12월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164" y="1645920"/>
            <a:ext cx="205429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Pretendard"/>
              </a:defRPr>
            </a:pPr>
            <a:r>
              <a:t>연말 감사</a:t>
            </a:r>
            <a:br/>
            <a:r>
              <a:t>착한소비 결산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6616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56616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봄 캠페인 (3~5월)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런칭 기념 대규모 할인</a:t>
            </a:r>
            <a:br/>
            <a:r>
              <a:t>소상공인 입점 드라이브</a:t>
            </a:r>
            <a:br/>
            <a:r>
              <a:t>미디어 집중 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47973" y="356616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47973" y="356616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여름 캠페인 (6~8월)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9413" y="402336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배달 수요 성수기 활용</a:t>
            </a:r>
            <a:br/>
            <a:r>
              <a:t>쿨서머 프로모션</a:t>
            </a:r>
            <a:br/>
            <a:r>
              <a:t>UGC 챌린지 진행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4427" y="356616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4427" y="356616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가을 캠페인 (9~10월)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5867" y="402336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추석·한글날 연계</a:t>
            </a:r>
            <a:br/>
            <a:r>
              <a:t>우리동네 맛집 큐레이션</a:t>
            </a:r>
            <a:br/>
            <a:r>
              <a:t>지역 축제 연계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0881" y="356616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80881" y="3566160"/>
            <a:ext cx="2579293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겨울 캠페인 (11~12월)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2321" y="402336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연말 감사 프로모션</a:t>
            </a:r>
            <a:br/>
            <a:r>
              <a:t>착한소비 연간 리포트</a:t>
            </a:r>
            <a:br/>
            <a:r>
              <a:t>차년도 사전 예고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시민이 공유하고 싶은 콘텐츠 — 릴스·숏츠 예시 기획안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3484778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시리즈 1: 사장님 이야기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우리 동네 소상공인 인터뷰</a:t>
            </a:r>
            <a:br/>
            <a:r>
              <a:t>수수료 절감 체감 스토리</a:t>
            </a:r>
            <a:br/>
            <a:r>
              <a:t>감동·공감 유발 → 공유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00584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3458" y="1005840"/>
            <a:ext cx="3484778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시리즈 2: 동네 맛집 탐방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146304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서울배달+ 입점 맛집 리뷰</a:t>
            </a:r>
            <a:br/>
            <a:r>
              <a:t>인플루언서 협업 콘텐츠</a:t>
            </a:r>
            <a:br/>
            <a:r>
              <a:t>맛집 정보 + 주문 유도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5396" y="100584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75396" y="1005840"/>
            <a:ext cx="3484778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시리즈 3: 착한배달 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146304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시민 참여형 UGC 캠페인</a:t>
            </a:r>
            <a:br/>
            <a:r>
              <a:t>#착한배달서울 해시태그</a:t>
            </a:r>
            <a:br/>
            <a:r>
              <a:t>리워드 경품 추첨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606040"/>
            <a:ext cx="3484778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시리즈 4: 수수료의 비밀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민간 vs 공공 수수료 비교</a:t>
            </a:r>
            <a:br/>
            <a:r>
              <a:t>인포그래픽 영상</a:t>
            </a:r>
            <a:br/>
            <a:r>
              <a:t>가치소비 메시지 전달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3458" y="260604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53458" y="2606040"/>
            <a:ext cx="3484778" cy="411480"/>
          </a:xfrm>
          <a:prstGeom prst="roundRect">
            <a:avLst>
              <a:gd name="adj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시리즈 5: 배달 브이로그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306324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일상 속 서울배달+ 이용기</a:t>
            </a:r>
            <a:br/>
            <a:r>
              <a:t>자연스러운 PPL 형태</a:t>
            </a:r>
            <a:br/>
            <a:r>
              <a:t>일상 콘텐츠 + 브랜드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5396" y="2606040"/>
            <a:ext cx="3484778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75396" y="2606040"/>
            <a:ext cx="3484778" cy="411480"/>
          </a:xfrm>
          <a:prstGeom prst="roundRect">
            <a:avLst>
              <a:gd name="adj" fmla="val 0"/>
            </a:avLst>
          </a:prstGeom>
          <a:solidFill>
            <a:srgbClr val="C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시리즈 6: 이벤트 현장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6836" y="3063240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프로모션·이벤트 라이브</a:t>
            </a:r>
            <a:br/>
            <a:r>
              <a:t>현장 참여 분위기 전달</a:t>
            </a:r>
            <a:br/>
            <a:r>
              <a:t>다음 이벤트 기대감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10728655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2628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19"/>
            <a:ext cx="10728655" cy="4114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콘텐츠 예시 비주얼 (릴스 스토리보드 3종)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오프라인 접점 홍보물 — 가맹점 키트부터 대중교통 광고까지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가맹점 홍보 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매장 부착용 포스터</a:t>
            </a:r>
            <a:br/>
            <a:r>
              <a:t>테이블 텐트</a:t>
            </a:r>
            <a:br/>
            <a:r>
              <a:t>QR 코드 스티커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973" y="100584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7973" y="1005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대중교통 광고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9413" y="146304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버스 래핑·정류장 광고</a:t>
            </a:r>
            <a:br/>
            <a:r>
              <a:t>지하철 스크린도어</a:t>
            </a:r>
            <a:br/>
            <a:r>
              <a:t>차내 모니터 숏폼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4427" y="100584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4427" y="1005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옥외 전광판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146304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주요 상권 LED 전광판</a:t>
            </a:r>
            <a:br/>
            <a:r>
              <a:t>아파트 엘리베이터 TV</a:t>
            </a:r>
            <a:br/>
            <a:r>
              <a:t>편의점 모니터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0881" y="1005840"/>
            <a:ext cx="2579293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80881" y="1005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인쇄 홍보물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2321" y="1463040"/>
            <a:ext cx="2396413" cy="17830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전단지·리플렛</a:t>
            </a:r>
            <a:br/>
            <a:r>
              <a:t>지역신문 광고</a:t>
            </a:r>
            <a:br/>
            <a:r>
              <a:t>마트·상가 배포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10728655" cy="109728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Pretendard SemiBold"/>
              </a:defRPr>
            </a:pPr>
            <a:r>
              <a:t>모든 오프라인 홍보물에 QR코드 삽입 → 온라인 전환 추적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Pretendard Light"/>
              </a:defRPr>
            </a:pPr>
            <a:r>
              <a:t>QR별 UTM 파라미터 설정으로 채널별 전환율 측정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10728655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50992"/>
            <a:ext cx="10728655" cy="3566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오프라인 홍보물 디자인 시안 (포스터·배너·스티커)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분기별 5인+ 인플루언서 협업으로 자연스러운 바이럴 확산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454298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매크로 인플루언서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799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팔로워 10만+ 크리에이터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브랜드 인지도 확산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분기 1~2인 협업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005840"/>
            <a:ext cx="3454298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698" y="100584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마이크로 인플루언서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5858" y="1554480"/>
            <a:ext cx="31799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팔로워 1~10만 맛집 리뷰어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진정성 높은 추천 콘텐츠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분기 3~5인 협업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5876" y="1005840"/>
            <a:ext cx="3454298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5876" y="100584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나노 인플루언서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036" y="1554480"/>
            <a:ext cx="31799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지역 기반 일반 시민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동네 맛집 추천 후기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시민 체험단 30인+/분기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유형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3683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협업 형태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예상 도달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011" y="3291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비용 효율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매크로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3683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브랜디드 콘텐츠 1건+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건당 50만+ 도달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011" y="3703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CPV 50원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마이크로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3683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리뷰 콘텐츠 2건+/인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5847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건당 10만+ 도달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011" y="4114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CPV 30원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262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나노(체험단)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3683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후기 포스팅 3건+/인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5847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건당 3만+ 도달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011" y="4526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CPV 15원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9377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539496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핵심: 매크로로 인지도 확보 → 마이크로로 신뢰 구축 → 나노로 일상 침투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데이터 기반 퍼포먼스 마케팅으로 CPI 3,000원 이하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442133" cy="20116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데이터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유저 행동 데이터</a:t>
            </a:r>
            <a:br/>
            <a:r>
              <a:t>채널별 전환율</a:t>
            </a:r>
            <a:br/>
            <a:r>
              <a:t>A/B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3653" y="1005840"/>
            <a:ext cx="32004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693" y="1005840"/>
            <a:ext cx="2442133" cy="201168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타겟 세분화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693" y="310896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연령·지역·관심사</a:t>
            </a:r>
            <a:br/>
            <a:r>
              <a:t>맞춤 오디언스 설정</a:t>
            </a:r>
            <a:br/>
            <a:r>
              <a:t>유사 타겟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5826" y="1005840"/>
            <a:ext cx="32004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5867" y="1005840"/>
            <a:ext cx="2442133" cy="201168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매체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310896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CPI·CPV 기준</a:t>
            </a:r>
            <a:br/>
            <a:r>
              <a:t>예산 재배분</a:t>
            </a:r>
            <a:br/>
            <a:r>
              <a:t>고효율 매체 집중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000" y="1005840"/>
            <a:ext cx="32004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8041" y="1005840"/>
            <a:ext cx="2442133" cy="201168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성과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8041" y="3108960"/>
            <a:ext cx="2442133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주간 리포트</a:t>
            </a:r>
            <a:br/>
            <a:r>
              <a:t>ROAS 측정</a:t>
            </a:r>
            <a:br/>
            <a:r>
              <a:t>전략 피벗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검색 광고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40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배달 관련 키워드 점유</a:t>
            </a:r>
            <a:br/>
            <a:r>
              <a:t>네이버·구글 검색광고</a:t>
            </a:r>
            <a:br/>
            <a:r>
              <a:t>CPC 500원 이하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7973" y="3291840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47973" y="3291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SNS 광고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9413" y="3749040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인스타·페이스북 타겟팅</a:t>
            </a:r>
            <a:br/>
            <a:r>
              <a:t>영상·카드뉴스 광고</a:t>
            </a:r>
            <a:br/>
            <a:r>
              <a:t>CPV 20원 이하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4427" y="3291840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64427" y="3291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리타게팅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867" y="3749040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설치 미완료 유저 재노출</a:t>
            </a:r>
            <a:br/>
            <a:r>
              <a:t>첫 주문 미완료 리마인드</a:t>
            </a:r>
            <a:br/>
            <a:r>
              <a:t>전환율 15%+ 목표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0881" y="3291840"/>
            <a:ext cx="2579293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80881" y="3291840"/>
            <a:ext cx="2579293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바이럴 시딩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2321" y="3749040"/>
            <a:ext cx="2396413" cy="1508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커뮤니티·카페 시딩</a:t>
            </a:r>
            <a:br/>
            <a:r>
              <a:t>자연스러운 후기 확산</a:t>
            </a:r>
            <a:br/>
            <a:r>
              <a:t>비용 대비 도달 최대화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실시간 대시보드 기반 효과분석으로 예산 ROI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모든 캠페인에 UTM 트래킹 적용, 채널별 전환 기여도 실시간 측정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분석 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3683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측정 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분석 주기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011" y="20116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활용 방안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인지도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노출 수, 도달 수, 인지도 조사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주간/월간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011" y="24231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매체 믹스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참여도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3683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클릭률, 조회 수, 공유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28346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콘텐츠 소재 최적화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전환율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3683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앱 설치, 첫 주문, 재주문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일간/주간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011" y="32461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전환 퍼널 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6576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ROI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3683" y="36576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ROAS, CPI, CPV, LTV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36576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월간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011" y="36576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예산 재배분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만족도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3683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NPS, 만족도 조사, 리뷰 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5847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분기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011" y="40690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서비스 개선 피드백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805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029200"/>
            <a:ext cx="3454298" cy="16459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02920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주간 리포트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77840"/>
            <a:ext cx="31799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핵심 KPI 변동 추이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주요 캠페인 성과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이슈 및 대응 방안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8698" y="5029200"/>
            <a:ext cx="3454298" cy="16459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68698" y="502920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월간 리포트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5858" y="5577840"/>
            <a:ext cx="31799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채널별 상세 성과 분석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예산 집행 현황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차월 전략 방향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5876" y="5029200"/>
            <a:ext cx="3454298" cy="16459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05876" y="502920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분기 리포트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036" y="5577840"/>
            <a:ext cx="31799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종합 효과 분석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ROI 산출 및 벤치마크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전략 수정 제안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운영 및 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전문 조직과 체계적 프로세스로 안정적 용역 수행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소상공인·시민 밀착형 공공배달 생태계 확장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총괄 PM 중심 4개 팀 전문 조직으로 신속·정확한 실행 보장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005840"/>
            <a:ext cx="2743200" cy="10972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총괄 PM</a:t>
            </a:r>
            <a:br/>
            <a:r>
              <a:t>프로젝트 총괄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247" y="18105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Pretendard"/>
              </a:defRPr>
            </a:pPr>
            <a:r>
              <a:t>전략 방향 설정 · 발주처 소통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6703" y="2103120"/>
            <a:ext cx="25400" cy="2743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0728655" cy="25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579293" cy="82296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전략기획팀</a:t>
            </a:r>
            <a:br/>
            <a:r>
              <a:t>마케팅 전략 수립</a:t>
            </a:r>
            <a:br/>
            <a:r>
              <a:t>미디어 플래닝</a:t>
            </a:r>
            <a:br/>
            <a:r>
              <a:t>효과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973" y="2468880"/>
            <a:ext cx="2579293" cy="82296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콘텐츠팀</a:t>
            </a:r>
            <a:br/>
            <a:r>
              <a:t>영상·디자인 제작</a:t>
            </a:r>
            <a:br/>
            <a:r>
              <a:t>SNS 운영</a:t>
            </a:r>
            <a:br/>
            <a:r>
              <a:t>카피라이팅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4427" y="2468880"/>
            <a:ext cx="2579293" cy="82296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미디어팀</a:t>
            </a:r>
            <a:br/>
            <a:r>
              <a:t>매체 바잉·집행</a:t>
            </a:r>
            <a:br/>
            <a:r>
              <a:t>퍼포먼스 관리</a:t>
            </a:r>
            <a:br/>
            <a:r>
              <a:t>리포팅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0881" y="2468880"/>
            <a:ext cx="2579293" cy="82296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현장운영팀</a:t>
            </a:r>
            <a:br/>
            <a:r>
              <a:t>이벤트 기획·실행</a:t>
            </a:r>
            <a:br/>
            <a:r>
              <a:t>가맹점 지원</a:t>
            </a:r>
            <a:br/>
            <a:r>
              <a:t>오프라인 홍보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5272887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5272887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핵심 인력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499856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총괄 PM 1명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파트별 책임자 4명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실무 인력 8명+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4480560"/>
            <a:ext cx="5272887" cy="18288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4480560"/>
            <a:ext cx="5272887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협력 네트워크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5029200"/>
            <a:ext cx="499856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인플루언서 풀 50인+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지역 매체 20개+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소상공인 단체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주간 스프린트 기반 애자일 운영으로 시장 변화에 즉각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362858" cy="1828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월요일</a:t>
            </a:r>
            <a:br/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36285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주간 목표 설정</a:t>
            </a:r>
            <a:br/>
            <a:r>
              <a:t>콘텐츠 캘린더 확인</a:t>
            </a:r>
            <a:br/>
            <a:r>
              <a:t>이슈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4378" y="1005840"/>
            <a:ext cx="320040" cy="1828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4418" y="1005840"/>
            <a:ext cx="3362858" cy="1828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화~목</a:t>
            </a:r>
            <a:br/>
            <a:r>
              <a:t>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4418" y="2926080"/>
            <a:ext cx="336285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콘텐츠 제작·배포</a:t>
            </a:r>
            <a:br/>
            <a:r>
              <a:t>광고 집행·모니터링</a:t>
            </a:r>
            <a:br/>
            <a:r>
              <a:t>이벤트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7276" y="1005840"/>
            <a:ext cx="320040" cy="1828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7575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005840"/>
            <a:ext cx="3362858" cy="1828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금요일</a:t>
            </a:r>
            <a:br/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2926080"/>
            <a:ext cx="336285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주간 성과 분석</a:t>
            </a:r>
            <a:br/>
            <a:r>
              <a:t>KPI 달성도 점검</a:t>
            </a:r>
            <a:br/>
            <a:r>
              <a:t>차주 전략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보고 유형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3683" y="310896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주기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310896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011" y="310896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제출 시기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착수 보고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3683" y="35204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35204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사업수행계획서, 조직, 일정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011" y="35204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계약 후 10일 이내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주간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3683" y="39319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5847" y="39319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추진 실적, 차주 계획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011" y="393192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매주 금요일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434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월간 보고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3683" y="434340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5847" y="434340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채널별 성과, 예산 집행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011" y="434340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익월 3일 이내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중간 보고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3683" y="475488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1~2회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5847" y="475488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중간 성과, 전략 조정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011" y="475488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공정률 50%+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663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1663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최종 보고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13683" y="51663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847" y="51663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종합 결과 보고서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011" y="51663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2026.12.4.까지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과업내용서 산출물 기준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3단계 품질관리 체계로 콘텐츠 품질과 메시지 일관성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0116" y="1005840"/>
            <a:ext cx="4291462" cy="841248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전략 품질 — 마케팅 전략과 실행의 정합성 검증, 메시지 일관성 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0818" y="1920240"/>
            <a:ext cx="7510058" cy="841248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콘텐츠 품질 — 제작물 디자인·카피 내부 리뷰, 발주처 사전 승인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19" y="2834640"/>
            <a:ext cx="10728655" cy="841248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성과 품질 — KPI 달성도 주간 모니터링, 미달 시 즉시 보정 조치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5272887" cy="21031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272887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발주처 소통 체계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499856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담당자 핫라인 운영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주간 미팅 정례화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긴급 이슈 당일 보고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4023360"/>
            <a:ext cx="5272887" cy="21031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7287" y="4023360"/>
            <a:ext cx="5272887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자문회의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572000"/>
            <a:ext cx="499856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사업 관련 전문가 자문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공공배달 참여사 협력회의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분기별 전략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선제적 리스크 관리 — 예측 가능한 위험에 대한 사전 대응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리스크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3683" y="1005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발생 가능 상황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1005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대응 전략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011" y="100584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담당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콘텐츠 이슈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3683" y="1417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부정적 댓글·악성 바이럴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417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24시간 모니터링 + 즉시 대응 매뉴얼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011" y="14173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콘텐츠팀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828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성과 미달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3683" y="1828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KPI 달성률 70% 미만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1828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주간 분석 → 매체 재배분 → 소재 교체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011" y="18288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전략기획팀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402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240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예산 초과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3683" y="2240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특정 채널 비용 급등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847" y="2240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월간 예산 점검 + 대체 매체 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011" y="224028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미디어팀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2651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일정 지연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3683" y="2651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콘텐츠 승인 지연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847" y="2651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2주 선행 제작 + 승인 간소화 협의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011" y="265176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총괄 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0632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0632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보안 사고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3683" y="30632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개인정보 유출·해킹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30632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보안 교육 + 접근 권한 관리 강화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011" y="306324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총괄 PM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4747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48056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핵심 원칙: 예방 &gt; 대응 — 모든 리스크에 대한 사전 시나리오 수립 완료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수행 역량 및 레퍼런스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공공 홍보마케팅 전문 역량으로 성과를 증명합니다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소상공인·시민 밀착형 공공배달 생태계 확장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[수행사명]만의 3대 핵심 역량 — 공공·데이터·콘텐츠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공공 프로젝트 전문성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서울시·중앙부처 용역 10건+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공공 커뮤니케이션 가이드 숙지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정부24·국민비서 등 유사 수행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00584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698" y="100584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데이터 드리븐 마케팅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5858" y="155448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GA·Amplitude 기반 분석 체계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퍼포먼스 마케팅 최적화 역량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A/B 테스트 기반 의사결정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5876" y="1005840"/>
            <a:ext cx="3454298" cy="228600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5876" y="100584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콘텐츠 제작 역량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036" y="1554480"/>
            <a:ext cx="31799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영상·디자인·카피 원스톱 제작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인플루언서 네트워크 500인+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SNS 채널 운영 경험 50개+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758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2C5F"/>
                </a:solidFill>
                <a:latin typeface="Pretendard Bold"/>
              </a:defRPr>
            </a:pPr>
            <a:r>
              <a:t>10건+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공공 용역</a:t>
            </a:r>
            <a:br/>
            <a:r>
              <a:t>수행 실적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973" y="35661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47973" y="356616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973" y="36758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AD2"/>
                </a:solidFill>
                <a:latin typeface="Pretendard Bold"/>
              </a:defRPr>
            </a:pPr>
            <a:r>
              <a:t>500인+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973" y="42245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인플루언서</a:t>
            </a:r>
            <a:br/>
            <a:r>
              <a:t>네트워크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4427" y="35661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4427" y="356616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4427" y="36758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19C"/>
                </a:solidFill>
                <a:latin typeface="Pretendard Bold"/>
              </a:defRPr>
            </a:pPr>
            <a:r>
              <a:t>50개+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4427" y="42245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SNS 채널</a:t>
            </a:r>
            <a:br/>
            <a:r>
              <a:t>운영 경험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0881" y="356616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0881" y="356616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0881" y="367588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3312"/>
                </a:solidFill>
                <a:latin typeface="Pretendard Bold"/>
              </a:defRPr>
            </a:pPr>
            <a:r>
              <a:t>92%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881" y="422452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발주처</a:t>
            </a:r>
            <a:br/>
            <a:r>
              <a:t>만족도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10728655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74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42432"/>
            <a:ext cx="10728655" cy="3566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수행사 조직 전경·수상 실적 사진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공공 홍보마케팅 유사 수행 실적 — 검증된 성과로 신뢰 제공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5295747" cy="411480"/>
          </a:xfrm>
          <a:prstGeom prst="roundRect">
            <a:avLst>
              <a:gd name="adj" fmla="val 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[프로젝트 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[발주처 A]</a:t>
            </a:r>
            <a:br/>
            <a:r>
              <a:t>공공 플랫폼 홍보마케팅</a:t>
            </a:r>
            <a:br/>
            <a:r>
              <a:t>인지도 200% 향상 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4427" y="100584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4427" y="1005840"/>
            <a:ext cx="5295747" cy="411480"/>
          </a:xfrm>
          <a:prstGeom prst="roundRect">
            <a:avLst>
              <a:gd name="adj" fmla="val 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[프로젝트 B]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146304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[발주처 B]</a:t>
            </a:r>
            <a:br/>
            <a:r>
              <a:t>소상공인 지원 캠페인</a:t>
            </a:r>
            <a:br/>
            <a:r>
              <a:t>참여 소상공인 3,000개+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295747" cy="411480"/>
          </a:xfrm>
          <a:prstGeom prst="roundRect">
            <a:avLst>
              <a:gd name="adj" fmla="val 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[프로젝트 C]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[발주처 C]</a:t>
            </a:r>
            <a:br/>
            <a:r>
              <a:t>SNS 채널 운영</a:t>
            </a:r>
            <a:br/>
            <a:r>
              <a:t>팔로워 10만+ 달성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4427" y="2606040"/>
            <a:ext cx="5295747" cy="146304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4427" y="2606040"/>
            <a:ext cx="5295747" cy="411480"/>
          </a:xfrm>
          <a:prstGeom prst="roundRect">
            <a:avLst>
              <a:gd name="adj" fmla="val 0"/>
            </a:avLst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[프로젝트 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867" y="3063240"/>
            <a:ext cx="5112867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[발주처 D]</a:t>
            </a:r>
            <a:br/>
            <a:r>
              <a:t>디지털 퍼포먼스 마케팅</a:t>
            </a:r>
            <a:br/>
            <a:r>
              <a:t>CPI 2,500원 달성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모든 프로젝트에서 목표 KPI 100% 이상 달성, 발주처 만족도 평균 92점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10728655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8C8C8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99632"/>
            <a:ext cx="10728655" cy="3566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57575"/>
                </a:solidFill>
                <a:latin typeface="Pretendard"/>
              </a:defRPr>
            </a:pPr>
            <a:r>
              <a:t>수행 실적 포트폴리오 이미지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경쟁사 대비 [수행사명]의 3가지 차별적 강점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024128"/>
            <a:ext cx="10253167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공공배달 도메인 이해: 배달앱 시장 구조와 공공서비스 특성을 깊이 이해한 전략 수립. 민간 배달앱 경험과 공공 커뮤니케이션 역량의 융합으로 실효성 높은 홍보 전략 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572768"/>
            <a:ext cx="10253167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원스톱 실행 체계: 전략 수립부터 콘텐츠 제작, 매체 집행, 효과 분석까지 원스톱 수행. 외주 최소화로 일정 준수율 100%, 커뮤니케이션 비용 최소화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21408"/>
            <a:ext cx="10253167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2121"/>
                </a:solidFill>
                <a:latin typeface="Pretendard"/>
              </a:defRPr>
            </a:pPr>
            <a:r>
              <a:t>성과 보장 의지: 목표 KPI 미달 시 추가 매체 집행·콘텐츠 제작 무상 제공. 발주처와의 성과 공유 파트너십으로 책임감 있는 용역 수행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731520"/>
          </a:xfrm>
          <a:prstGeom prst="roundRect">
            <a:avLst>
              <a:gd name="adj" fmla="val 4000"/>
            </a:avLst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결론: [수행사명]은 '이해하고, 실행하고, 책임지는' 파트너입니다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400"/>
              </a:lnSpc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007693"/>
                </a:solidFill>
                <a:latin typeface="Pretendard Black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Pretendard Bold"/>
              </a:defRPr>
            </a:pPr>
            <a:r>
              <a:rPr spc="80"/>
              <a:t>INVESTMENT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투자 비용 및 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AAD2"/>
                </a:solidFill>
                <a:latin typeface="Pretendard"/>
              </a:defRPr>
            </a:pPr>
            <a:r>
              <a:t>97,000천원 투자로 공공배달 시장의 새 역사를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4114800" cy="32004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Win Theme  |  데이터 기반 타겟 마케팅으로 이용 전환율 극대화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총 9,700만원 — 콘텐츠 제작 35%, 매체 집행 30%, 이벤트 20%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005840"/>
          <a:ext cx="4572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840479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3683" y="3840479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비율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3840479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금액(만원)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011" y="3840479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세부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5195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콘텐츠 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425195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425195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3,395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011" y="425195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영상·디자인·카피 제작, 인플루언서 협업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39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66343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매체 집행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3683" y="466343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466343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2,910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466343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온라인 광고, 오프라인 매체, 대중교통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74919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7491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이벤트·프로모션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3683" y="507491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507491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1,940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011" y="507491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시즌 프로모션, 가맹점 입점 캠페인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86399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48639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전략·분석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3683" y="548639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548639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970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011" y="5486399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전략 기획, 효과 분석, 리포팅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897879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89787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운영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3683" y="589787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5847" y="589787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485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011" y="5897879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PM 인건비, 자문회의, 기타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309359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Source: 부가가치세 포함 총 97,000,000원 기준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핵심 KPI 5대 지표 — 인지도 80%, 이용자 300%, 가맹점 5,000개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2579293" cy="169672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70432"/>
            <a:ext cx="2304973" cy="576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2C5F"/>
                </a:solidFill>
                <a:latin typeface="Pretendard Bold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2304973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브랜드 인지도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2396413" cy="4846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현 32% → 80% (서울 시민 기준)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1005840"/>
            <a:ext cx="2579293" cy="169672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3447973" y="100584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5133" y="1170432"/>
            <a:ext cx="2304973" cy="576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AAD2"/>
                </a:solidFill>
                <a:latin typeface="Pretendard Bold"/>
              </a:defRPr>
            </a:pPr>
            <a:r>
              <a:t>300%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5133" y="1746504"/>
            <a:ext cx="2304973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이용자 증가율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9413" y="2121408"/>
            <a:ext cx="2396413" cy="4846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월간 활성 이용자 3배 성장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1005840"/>
            <a:ext cx="2579293" cy="169672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64427" y="100584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1587" y="1170432"/>
            <a:ext cx="2304973" cy="576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A19C"/>
                </a:solidFill>
                <a:latin typeface="Pretendard Bold"/>
              </a:defRPr>
            </a:pPr>
            <a:r>
              <a:t>5,000개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1587" y="1746504"/>
            <a:ext cx="2304973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신규 가맹점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867" y="2121408"/>
            <a:ext cx="2396413" cy="4846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연내 가맹점 확보 목표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0881" y="1005840"/>
            <a:ext cx="2579293" cy="169672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50800" dist="25400" dir="2700000" algn="tl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8880881" y="100584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8041" y="1170432"/>
            <a:ext cx="2304973" cy="576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63312"/>
                </a:solidFill>
                <a:latin typeface="Pretendard Bold"/>
              </a:defRPr>
            </a:pPr>
            <a:r>
              <a:t>50만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041" y="1746504"/>
            <a:ext cx="2304973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Pretendard SemiBold"/>
              </a:defRPr>
            </a:pPr>
            <a:r>
              <a:t>월간 주문 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2321" y="2121408"/>
            <a:ext cx="2396413" cy="4846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12월 기준 월 주문 목표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9260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KPI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3683" y="29260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목표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29260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산출 근거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011" y="2926080"/>
            <a:ext cx="2682163" cy="41148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데이터 출처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3375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인지도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3683" y="33375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32%→80%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33375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미디어 노출 1억회+ × 인지전환율 0.5%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011" y="333756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유사 공공서비스 캠페인 벤치마크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4904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7490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이용자 300%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3683" y="37490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현 대비 3배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5847" y="37490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설치 30만 × 전환율 53% × 재이용 38%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011" y="374904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배달앱 전환율 업계 평균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16052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1605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가맹점 5,000개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13683" y="41605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연내 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5847" y="41605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설명회 50회 × 참가 200명 × 전환 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011" y="4160520"/>
            <a:ext cx="2682163" cy="41148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소상공인 전환의향 조사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57200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45720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월 주문 50만건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13683" y="45720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12월 기준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5847" y="45720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MAU 15만 × 월 주문 3.3회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011" y="4572000"/>
            <a:ext cx="26821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배달앱 이용빈도 조사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983480"/>
            <a:ext cx="10728655" cy="6350"/>
          </a:xfrm>
          <a:prstGeom prst="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2121"/>
                </a:solidFill>
                <a:latin typeface="Pretendard SemiBold"/>
              </a:defRPr>
            </a:pPr>
            <a:r>
              <a:t>서울배달+ 활성화가 만드는 경제·사회적 파급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04672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2579293" cy="508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2C5F"/>
                </a:solidFill>
                <a:latin typeface="Pretendard Bold"/>
              </a:defRPr>
            </a:pPr>
            <a:r>
              <a:t>연 120억+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소상공인</a:t>
            </a:r>
            <a:br/>
            <a:r>
              <a:t>수수료 절감 효과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973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1005840"/>
            <a:ext cx="2579293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AD2"/>
                </a:solidFill>
                <a:latin typeface="Pretendard Bold"/>
              </a:defRPr>
            </a:pPr>
            <a:r>
              <a:t>1.5만 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가맹점</a:t>
            </a:r>
            <a:br/>
            <a:r>
              <a:t>일자리 보전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4427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4427" y="1005840"/>
            <a:ext cx="2579293" cy="508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4427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A19C"/>
                </a:solidFill>
                <a:latin typeface="Pretendard Bold"/>
              </a:defRPr>
            </a:pPr>
            <a:r>
              <a:t>300억+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4427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지역경제</a:t>
            </a:r>
            <a:br/>
            <a:r>
              <a:t>순환 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0881" y="1005840"/>
            <a:ext cx="2579293" cy="123952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  <a:effectLst>
            <a:outerShdw blurRad="25400" dist="12700" dir="2700000" algn="tl">
              <a:srgbClr val="00000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0881" y="1005840"/>
            <a:ext cx="2579293" cy="50800"/>
          </a:xfrm>
          <a:prstGeom prst="rect">
            <a:avLst/>
          </a:prstGeom>
          <a:solidFill>
            <a:srgbClr val="E63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0881" y="1115568"/>
            <a:ext cx="2579293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3312"/>
                </a:solidFill>
                <a:latin typeface="Pretendard Bold"/>
              </a:defRPr>
            </a:pPr>
            <a:r>
              <a:t>Top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0881" y="1664208"/>
            <a:ext cx="2579293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Pretendard SemiBold"/>
              </a:defRPr>
            </a:pPr>
            <a:r>
              <a:t>공공배달앱</a:t>
            </a:r>
            <a:br/>
            <a:r>
              <a:t>인지도 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468880"/>
            <a:ext cx="3454298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468880"/>
            <a:ext cx="3454298" cy="4572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경제적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017520"/>
            <a:ext cx="31799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소상공인 수수료 절감으로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연 120억+ 비용 절감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지역경제 선순환 촉진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8698" y="2468880"/>
            <a:ext cx="3454298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8698" y="2468880"/>
            <a:ext cx="3454298" cy="457200"/>
          </a:xfrm>
          <a:prstGeom prst="rect">
            <a:avLst/>
          </a:prstGeom>
          <a:solidFill>
            <a:srgbClr val="00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사회적 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5858" y="3017520"/>
            <a:ext cx="31799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공공서비스 신뢰 제고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가치소비 문화 확산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디지털 포용 (고령층 접근성)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5876" y="2468880"/>
            <a:ext cx="3454298" cy="2011680"/>
          </a:xfrm>
          <a:prstGeom prst="rect">
            <a:avLst/>
          </a:prstGeom>
          <a:solidFill>
            <a:srgbClr val="FAFAFC"/>
          </a:solidFill>
          <a:ln w="6350">
            <a:solidFill>
              <a:srgbClr val="E6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5876" y="2468880"/>
            <a:ext cx="3454298" cy="4572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정책적 효과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3036" y="3017520"/>
            <a:ext cx="31799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서울시 소상공인 정책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체감도 향상</a:t>
            </a:r>
          </a:p>
          <a:p>
            <a:pPr algn="l">
              <a:lnSpc>
                <a:spcPts val="17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  <a:latin typeface="Pretendard"/>
              </a:defRPr>
            </a:pPr>
            <a:r>
              <a:t>• 시민 참여 거버넌스 모델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80"/>
            <a:ext cx="10728655" cy="73152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02C5F"/>
              </a:gs>
              <a:gs pos="100000">
                <a:srgbClr val="0025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9,700만원 투자 → 연 120억+ 소상공인 수수료 절감, ROI 1,200%+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57575"/>
                </a:solidFill>
                <a:latin typeface="Pretendard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71717"/>
            </a:gs>
            <a:gs pos="100000">
              <a:srgbClr val="212121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Pretendard"/>
              </a:defRPr>
            </a:pPr>
            <a:r>
              <a:rPr spc="200"/>
              <a:t>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"/>
              </a:defRPr>
            </a:pPr>
            <a:r>
              <a:t>성공적인 서울배달+ 활성화를 위한 다음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2926080"/>
          </a:xfrm>
          <a:prstGeom prst="roundRect">
            <a:avLst>
              <a:gd name="adj" fmla="val 6000"/>
            </a:avLst>
          </a:prstGeom>
          <a:solidFill>
            <a:srgbClr val="002C5F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39333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Pretendard Medium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79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Pretendard Bold"/>
              </a:defRPr>
            </a:pPr>
            <a:r>
              <a:t>제안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30275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제안 내용 상세 설명 및</a:t>
            </a:r>
            <a:br/>
            <a:r>
              <a:t>질의응답을 통한</a:t>
            </a:r>
            <a:br/>
            <a:r>
              <a:t>전략 방향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4858" y="30175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8C8C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2926080"/>
          </a:xfrm>
          <a:prstGeom prst="roundRect">
            <a:avLst>
              <a:gd name="adj" fmla="val 6000"/>
            </a:avLst>
          </a:prstGeom>
          <a:solidFill>
            <a:srgbClr val="00AAD2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399178" y="2286000"/>
            <a:ext cx="339333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Pretendard Medium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9178" y="2697479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Pretendard Bold"/>
              </a:defRPr>
            </a:pPr>
            <a:r>
              <a:t>전략 협의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3291839"/>
            <a:ext cx="30275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발주처 피드백 반영</a:t>
            </a:r>
            <a:br/>
            <a:r>
              <a:t>세부 실행 계획 조율</a:t>
            </a:r>
            <a:br/>
            <a:r>
              <a:t>마케팅 캘린더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2516" y="30175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8C8C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2926080"/>
          </a:xfrm>
          <a:prstGeom prst="roundRect">
            <a:avLst>
              <a:gd name="adj" fmla="val 6000"/>
            </a:avLst>
          </a:prstGeom>
          <a:solidFill>
            <a:srgbClr val="00A19C"/>
          </a:solidFill>
          <a:ln>
            <a:noFill/>
          </a:ln>
          <a:effectLst>
            <a:outerShdw blurRad="63500" dist="38100" dir="2700000" algn="tl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defRPr sz="1300" b="0">
                <a:solidFill>
                  <a:srgbClr val="FFFFFF"/>
                </a:solidFill>
                <a:latin typeface="Pretendard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66836" y="2286000"/>
            <a:ext cx="339333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Pretendard Medium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2697479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Pretendard Bold"/>
              </a:defRPr>
            </a:pPr>
            <a:r>
              <a:t>착수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3291839"/>
            <a:ext cx="30275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계약 체결 후 10일 내</a:t>
            </a:r>
            <a:br/>
            <a:r>
              <a:t>사업수행계획서 제출</a:t>
            </a:r>
            <a:br/>
            <a:r>
              <a:t>즉시 런칭 캠페인 가동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8C8C8"/>
                </a:solidFill>
                <a:latin typeface="Pretendard"/>
              </a:defRPr>
            </a:pPr>
            <a:r>
              <a:t>Contact: [담당자명] | [연락처] | [이메일]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2C5F"/>
            </a:gs>
            <a:gs pos="100000">
              <a:srgbClr val="00255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0"/>
            <a:ext cx="38100" cy="18288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Pretendard Bold"/>
              </a:defRPr>
            </a:pPr>
            <a:r>
              <a:rPr spc="100"/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828800" cy="254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8C8"/>
                </a:solidFill>
                <a:latin typeface="Pretendard Light"/>
              </a:defRPr>
            </a:pPr>
            <a:r>
              <a:t>배달은 서울답게, 소비는 가치있게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57575"/>
                </a:solidFill>
                <a:latin typeface="Pretendard Medium"/>
              </a:defRPr>
            </a:pPr>
            <a:r>
              <a:t>서울시 공공배달 서비스 활성화 홍보마케팅 용역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8C8C8"/>
                </a:solidFill>
                <a:latin typeface="Pretendard"/>
              </a:defRPr>
            </a:pPr>
            <a:r>
              <a:t>[수행사명] | [담당자 연락처]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